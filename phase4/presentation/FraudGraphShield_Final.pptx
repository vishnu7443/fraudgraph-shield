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0B981"/>
                </a:solidFill>
                <a:latin typeface="Arial"/>
              </a:defRPr>
            </a:pPr>
            <a:r>
              <a:t>FraudGraph Shield</a:t>
            </a:r>
          </a:p>
          <a:p>
            <a:pPr algn="l">
              <a:defRPr sz="2000">
                <a:solidFill>
                  <a:srgbClr val="FFFFFF"/>
                </a:solidFill>
                <a:latin typeface="Arial"/>
              </a:defRPr>
            </a:pPr>
            <a:r>
              <a:t>Hybrid Machine Learning &amp; Graph Neural Networks for Real-Time Mule Account Identification</a:t>
            </a:r>
          </a:p>
          <a:p>
            <a:br/>
            <a:pPr algn="l">
              <a:defRPr sz="1400">
                <a:solidFill>
                  <a:srgbClr val="F1F5F9"/>
                </a:solidFill>
                <a:latin typeface="Arial"/>
              </a:defRPr>
            </a:pPr>
            <a:r>
              <a:t>Hackathon Final Pitch - IIT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The UPI Mule Account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Massive Scale: Over 10 Billion UPI transactions monthly in India.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The Layering Loophole: Scammers split stolen funds across multiple accounts in minutes.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Outdated Triggers: Traditional transaction rules fail to map structural relationship patterns.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Action Deficit: Bank risk engines lack real-time scoring, leading to delayed post-facto freezes.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Hybrid Score Fusion: 3 Defense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>
                <a:solidFill>
                  <a:srgbClr val="10B981"/>
                </a:solidFill>
              </a:defRPr>
            </a:pPr>
            <a:r>
              <a:t>1. LightGBM Transaction Scorer (Local Features)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 - Analyzes transaction amounts, payment channel, late-night transfers, and profiling risk.</a:t>
            </a:r>
          </a:p>
          <a:p>
            <a:br/>
            <a:pPr>
              <a:defRPr b="1" sz="1800">
                <a:solidFill>
                  <a:srgbClr val="10B981"/>
                </a:solidFill>
              </a:defRPr>
            </a:pPr>
            <a:r>
              <a:t>2. GraphSAGE GNN (Global Topological Features)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 - Leverages structural connectivity, network density, and node similarities across 9,082 nodes.</a:t>
            </a:r>
          </a:p>
          <a:p>
            <a:br/>
            <a:pPr>
              <a:defRPr b="1" sz="1800">
                <a:solidFill>
                  <a:srgbClr val="10B981"/>
                </a:solidFill>
              </a:defRPr>
            </a:pPr>
            <a:r>
              <a:t>3. Government CFMS Alert (External Threat Registry)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 - Connects mock registry alerts with severity multipliers and time-decay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Performance Validation &amp; Latency SLA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• High Detection Accuracy: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   - AUC: 0.962 | Average Precision (AP): 0.954 | F1-Score: 0.941</a:t>
            </a:r>
          </a:p>
          <a:p>
            <a:br/>
            <a:pPr>
              <a:defRPr b="1" sz="1800">
                <a:solidFill>
                  <a:srgbClr val="FFFFFF"/>
                </a:solidFill>
              </a:defRPr>
            </a:pPr>
            <a:r>
              <a:t>• Extremely Low Pipeline Latency: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   - Median Latency: 23.4 ms | P99 Latency: 89.2 ms (SLA SLA Target Limit: 350 ms)</a:t>
            </a:r>
          </a:p>
          <a:p>
            <a:br/>
            <a:pPr>
              <a:defRPr b="1" sz="1800">
                <a:solidFill>
                  <a:srgbClr val="FFFFFF"/>
                </a:solidFill>
              </a:defRPr>
            </a:pPr>
            <a:r>
              <a:t>• Sub-millisecond Feature Fetch:</a:t>
            </a:r>
          </a:p>
          <a:p>
            <a:pPr>
              <a:defRPr sz="1600">
                <a:solidFill>
                  <a:srgbClr val="F59E0B"/>
                </a:solidFill>
              </a:defRPr>
            </a:pPr>
            <a:r>
              <a:t>   - Redis pre-loaded cache hit rate: 98.7% enabling highly-scalable query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Streamlit Operations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Risk Queue: Interactive listing of flagged alerts with custom filter triage.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Explanations: Horizontal SHAP chart detailing positive/negative feature contribution.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Graph Visualization: PyVis interactive cluster network tracing mule relay chains.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Resiliency: Configured with automated offline fallback data to ensure a flawless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